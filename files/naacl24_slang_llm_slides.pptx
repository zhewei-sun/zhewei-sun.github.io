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autoCompressPictures="0">
  <p:sldMasterIdLst>
    <p:sldMasterId id="2147483659" r:id="rId1"/>
  </p:sldMasterIdLst>
  <p:notesMasterIdLst>
    <p:notesMasterId r:id="rId21"/>
  </p:notesMasterIdLst>
  <p:sldIdLst>
    <p:sldId id="358" r:id="rId2"/>
    <p:sldId id="471" r:id="rId3"/>
    <p:sldId id="475" r:id="rId4"/>
    <p:sldId id="476" r:id="rId5"/>
    <p:sldId id="477" r:id="rId6"/>
    <p:sldId id="478" r:id="rId7"/>
    <p:sldId id="483" r:id="rId8"/>
    <p:sldId id="484" r:id="rId9"/>
    <p:sldId id="485" r:id="rId10"/>
    <p:sldId id="481" r:id="rId11"/>
    <p:sldId id="491" r:id="rId12"/>
    <p:sldId id="492" r:id="rId13"/>
    <p:sldId id="486" r:id="rId14"/>
    <p:sldId id="487" r:id="rId15"/>
    <p:sldId id="488" r:id="rId16"/>
    <p:sldId id="493" r:id="rId17"/>
    <p:sldId id="489" r:id="rId18"/>
    <p:sldId id="408" r:id="rId19"/>
    <p:sldId id="409" r:id="rId20"/>
  </p:sldIdLst>
  <p:sldSz cx="9144000" cy="5143500" type="screen16x9"/>
  <p:notesSz cx="6858000" cy="9144000"/>
  <p:embeddedFontLst>
    <p:embeddedFont>
      <p:font typeface="Proxima Nova" panose="02000506030000020004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513DCCE-35B9-40F0-B998-65665C7DD039}">
  <a:tblStyle styleId="{B513DCCE-35B9-40F0-B998-65665C7DD03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68"/>
    <p:restoredTop sz="91701"/>
  </p:normalViewPr>
  <p:slideViewPr>
    <p:cSldViewPr snapToGrid="0" snapToObjects="1">
      <p:cViewPr varScale="1">
        <p:scale>
          <a:sx n="101" d="100"/>
          <a:sy n="101" d="100"/>
        </p:scale>
        <p:origin x="200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389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488cc8a24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488cc8a242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8451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48975fe11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48975fe113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598282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488cc8a24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488cc8a242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456715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488cc8a24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488cc8a242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327931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488cc8a24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488cc8a242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319699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488cc8a24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488cc8a242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803263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488cc8a24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488cc8a242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260606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488cc8a24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488cc8a242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927470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488cc8a24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488cc8a242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718797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488cc8a24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488cc8a242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235947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488cc8a24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488cc8a242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920740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488cc8a24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488cc8a242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831332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488cc8a24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488cc8a242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11876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488cc8a24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488cc8a242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82151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488cc8a24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488cc8a242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44898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488cc8a24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488cc8a242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650451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488cc8a24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488cc8a242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Example data entry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46503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488cc8a24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488cc8a242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Example data entry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0820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pearmin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mazon-science/slang-llm-benchmark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5" Type="http://schemas.openxmlformats.org/officeDocument/2006/relationships/hyperlink" Target="https://zhewei-sun.github.io/" TargetMode="External"/><Relationship Id="rId4" Type="http://schemas.openxmlformats.org/officeDocument/2006/relationships/hyperlink" Target="https://arxiv.org/abs/2404.0232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361800" y="0"/>
            <a:ext cx="7740800" cy="234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300" dirty="0"/>
              <a:t>Toward Informal Language Processing: Knowledge of Slang in Large Language Models</a:t>
            </a:r>
            <a:endParaRPr sz="3300" dirty="0"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399552" y="3156912"/>
            <a:ext cx="8123100" cy="17960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sz="2000" dirty="0"/>
              <a:t>Zhewei Sun*, Q</a:t>
            </a:r>
            <a:r>
              <a:rPr lang="en-US" sz="2000" dirty="0" err="1"/>
              <a:t>i</a:t>
            </a:r>
            <a:r>
              <a:rPr lang="en" sz="2000" dirty="0"/>
              <a:t>an Hu†, Rahul Gupta†, Richard </a:t>
            </a:r>
            <a:r>
              <a:rPr lang="en" sz="2000" dirty="0" err="1"/>
              <a:t>Zemel</a:t>
            </a:r>
            <a:r>
              <a:rPr lang="en" sz="2000" dirty="0"/>
              <a:t>‡, and Yang Xu*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000" dirty="0"/>
              <a:t>*University of Toronto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†Amazon Alexa AI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‡Columbia University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892901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8167C6-6169-F946-9383-A1709C627B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  <p:sp>
        <p:nvSpPr>
          <p:cNvPr id="11" name="Google Shape;72;p15">
            <a:extLst>
              <a:ext uri="{FF2B5EF4-FFF2-40B4-BE49-F238E27FC236}">
                <a16:creationId xmlns:a16="http://schemas.microsoft.com/office/drawing/2014/main" id="{31A494B8-3DAC-FE47-8B04-729FA3BA57C6}"/>
              </a:ext>
            </a:extLst>
          </p:cNvPr>
          <p:cNvSpPr txBox="1">
            <a:spLocks/>
          </p:cNvSpPr>
          <p:nvPr/>
        </p:nvSpPr>
        <p:spPr>
          <a:xfrm>
            <a:off x="500558" y="1240683"/>
            <a:ext cx="8520600" cy="3582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dirty="0"/>
              <a:t>AI chatbot systems such as </a:t>
            </a:r>
            <a:r>
              <a:rPr lang="en-CA" dirty="0" err="1"/>
              <a:t>ChatGPT</a:t>
            </a:r>
            <a:r>
              <a:rPr lang="en-CA" dirty="0"/>
              <a:t> tend to use formal language.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dirty="0"/>
              <a:t>Can these systems also handle informal language?</a:t>
            </a:r>
          </a:p>
          <a:p>
            <a:pPr marL="3797300" lvl="8" indent="0">
              <a:lnSpc>
                <a:spcPct val="100000"/>
              </a:lnSpc>
              <a:buNone/>
            </a:pPr>
            <a:r>
              <a:rPr lang="en-CA" sz="1800" dirty="0"/>
              <a:t>	</a:t>
            </a:r>
          </a:p>
          <a:p>
            <a:pPr marL="114300" indent="0">
              <a:lnSpc>
                <a:spcPct val="100000"/>
              </a:lnSpc>
              <a:buNone/>
            </a:pPr>
            <a:endParaRPr lang="en-CA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 lvl="1">
              <a:lnSpc>
                <a:spcPct val="100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lnSpc>
                <a:spcPct val="100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lnSpc>
                <a:spcPct val="100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lnSpc>
                <a:spcPct val="100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Formality in chatbots</a:t>
            </a:r>
            <a:endParaRPr dirty="0"/>
          </a:p>
        </p:txBody>
      </p:sp>
      <p:pic>
        <p:nvPicPr>
          <p:cNvPr id="3" name="Picture 2" descr="A screenshot of a chat&#10;&#10;Description automatically generated">
            <a:extLst>
              <a:ext uri="{FF2B5EF4-FFF2-40B4-BE49-F238E27FC236}">
                <a16:creationId xmlns:a16="http://schemas.microsoft.com/office/drawing/2014/main" id="{A8F37FAB-14F3-B839-310F-8F0B505E1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335" y="1576158"/>
            <a:ext cx="7741035" cy="2326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870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Slang and large language models</a:t>
            </a:r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1E77BE-5768-8F3D-2AD7-BBFEB37CC6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  <p:pic>
        <p:nvPicPr>
          <p:cNvPr id="6" name="Picture 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95653892-1EF0-49CB-48ED-1C94BC8CB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54" y="1129566"/>
            <a:ext cx="4416608" cy="2391240"/>
          </a:xfrm>
          <a:prstGeom prst="rect">
            <a:avLst/>
          </a:prstGeom>
        </p:spPr>
      </p:pic>
      <p:pic>
        <p:nvPicPr>
          <p:cNvPr id="8" name="Picture 7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3FCB1D74-414A-24DA-4211-EBD7A29402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54" y="2912098"/>
            <a:ext cx="7772400" cy="18449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DC0CEB8-ABE6-3D20-20B5-29D1DB747CCB}"/>
              </a:ext>
            </a:extLst>
          </p:cNvPr>
          <p:cNvSpPr txBox="1"/>
          <p:nvPr/>
        </p:nvSpPr>
        <p:spPr>
          <a:xfrm>
            <a:off x="5012243" y="1433633"/>
            <a:ext cx="28504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Proxima Nova"/>
                <a:sym typeface="Proxima Nova"/>
              </a:rPr>
              <a:t>Oh no, did he really talk to you about ghosts for three months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094C3B-B44F-7B23-B8B2-CB59CDB9433C}"/>
              </a:ext>
            </a:extLst>
          </p:cNvPr>
          <p:cNvSpPr txBox="1"/>
          <p:nvPr/>
        </p:nvSpPr>
        <p:spPr>
          <a:xfrm>
            <a:off x="4722924" y="4168274"/>
            <a:ext cx="3412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Proxima Nova"/>
                <a:sym typeface="Proxima Nova"/>
              </a:rPr>
              <a:t>Oh no, they talked for three months already, is he really unconcerned about you?</a:t>
            </a:r>
          </a:p>
        </p:txBody>
      </p:sp>
    </p:spTree>
    <p:extLst>
      <p:ext uri="{BB962C8B-B14F-4D97-AF65-F5344CB8AC3E}">
        <p14:creationId xmlns:p14="http://schemas.microsoft.com/office/powerpoint/2010/main" val="1508726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311700" y="1132271"/>
            <a:ext cx="8036433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dirty="0"/>
              <a:t>How much knowledge about slang do large language models contain?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 dirty="0"/>
              <a:t>Prior work suggests pre-trained BERT-based models lack knowledge about slang (Sun et al., 2021, 2022).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 dirty="0"/>
              <a:t>Recent LLMs (e.g., GPT-4) seem to do much better at a first glance.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sz="1800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dirty="0"/>
              <a:t>Such knowledge has important implications in downstream applications.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 dirty="0"/>
              <a:t>Performance bias towards different groups of language users.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 dirty="0"/>
              <a:t>Exposure of personal information based on language use.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sz="1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D814E1-2263-1C43-BF96-024209A3C3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Motivation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16079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311700" y="1132271"/>
            <a:ext cx="8036433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dirty="0"/>
              <a:t>To evaluate LLMs on slang-related knowledge, we need a comprehensive benchmark dataset.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sz="1800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dirty="0"/>
              <a:t>Prior resources are insufficient in crafting a robust benchmark:</a:t>
            </a:r>
            <a:endParaRPr lang="en-CA" sz="180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 dirty="0"/>
              <a:t>Datasets based on Urban Dictionary (e.g., Ni and Wang, 2017) are large but 1) often contain erroneous entries and 2) lack the necessary meta-data.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 dirty="0"/>
              <a:t>Datasets based on authoritative slang dictionaries (e.g., Sun et al., 2021) cannot be publicly distributed.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sz="1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D814E1-2263-1C43-BF96-024209A3C3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Resources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443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311700" y="1132271"/>
            <a:ext cx="8036433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/>
              <a:t>We contribute a novel benchmark dataset – OpenSub-Slang – by annotating movie subtitles from the OpenSubtitles corpus.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sz="180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/>
              <a:t>We perform a comprehensive set of experiments on recent LLMs to evaluate the knowledge of slang contained in the models.</a:t>
            </a:r>
            <a:endParaRPr lang="en-CA" sz="180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/>
              <a:t>Slang detection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/>
              <a:t>Slang source identification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/>
              <a:t>Interpretive analysis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sz="1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D814E1-2263-1C43-BF96-024209A3C3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Contributions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7B2777-1C87-826A-3CA7-8E8F5EA628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62497" y="2435192"/>
            <a:ext cx="4499608" cy="191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756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311701" y="1132271"/>
            <a:ext cx="6940746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dirty="0"/>
              <a:t>An ideal benchmark dataset contains the following elements: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 dirty="0"/>
              <a:t>Lexical entry for the slang usage (i.e., term and definition sentence).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 dirty="0"/>
              <a:t>Slang-containing and non-slang sentences from the same data source.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 dirty="0"/>
              <a:t>Literal paraphrase of the word in context.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 dirty="0"/>
              <a:t>Time and region of usage.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 dirty="0"/>
              <a:t>Publicly accessible.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sz="1800" dirty="0"/>
          </a:p>
          <a:p>
            <a:pPr marL="596900" lvl="1" indent="0">
              <a:lnSpc>
                <a:spcPct val="100000"/>
              </a:lnSpc>
              <a:buNone/>
            </a:pPr>
            <a:endParaRPr lang="en-CA" dirty="0"/>
          </a:p>
          <a:p>
            <a:pPr marL="114300" indent="0">
              <a:lnSpc>
                <a:spcPct val="100000"/>
              </a:lnSpc>
              <a:buNone/>
            </a:pPr>
            <a:endParaRPr lang="en-CA" dirty="0"/>
          </a:p>
          <a:p>
            <a:pPr marL="114300" indent="0">
              <a:lnSpc>
                <a:spcPct val="100000"/>
              </a:lnSpc>
              <a:buNone/>
            </a:pPr>
            <a:endParaRPr lang="en-CA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D814E1-2263-1C43-BF96-024209A3C3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Dataset - Desiderata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1597B4-EC94-D352-E4BE-242A18782329}"/>
              </a:ext>
            </a:extLst>
          </p:cNvPr>
          <p:cNvSpPr txBox="1"/>
          <p:nvPr/>
        </p:nvSpPr>
        <p:spPr>
          <a:xfrm>
            <a:off x="9601200" y="2438927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Google Shape;72;p15">
            <a:extLst>
              <a:ext uri="{FF2B5EF4-FFF2-40B4-BE49-F238E27FC236}">
                <a16:creationId xmlns:a16="http://schemas.microsoft.com/office/drawing/2014/main" id="{32C8122C-CFAB-67CF-7D27-307EDA66962A}"/>
              </a:ext>
            </a:extLst>
          </p:cNvPr>
          <p:cNvSpPr txBox="1">
            <a:spLocks/>
          </p:cNvSpPr>
          <p:nvPr/>
        </p:nvSpPr>
        <p:spPr>
          <a:xfrm>
            <a:off x="6938683" y="1424417"/>
            <a:ext cx="2249498" cy="43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114300" indent="0" algn="ctr">
              <a:lnSpc>
                <a:spcPct val="100000"/>
              </a:lnSpc>
              <a:buNone/>
            </a:pPr>
            <a:r>
              <a:rPr lang="en-CA" sz="1400" dirty="0">
                <a:solidFill>
                  <a:srgbClr val="0070C0"/>
                </a:solidFill>
              </a:rPr>
              <a:t>shrink</a:t>
            </a:r>
            <a:endParaRPr lang="en-CA" sz="1400" dirty="0"/>
          </a:p>
        </p:txBody>
      </p:sp>
      <p:sp>
        <p:nvSpPr>
          <p:cNvPr id="5" name="Google Shape;72;p15">
            <a:extLst>
              <a:ext uri="{FF2B5EF4-FFF2-40B4-BE49-F238E27FC236}">
                <a16:creationId xmlns:a16="http://schemas.microsoft.com/office/drawing/2014/main" id="{2773FF0B-0A26-50FA-B503-4A024ACD1DA8}"/>
              </a:ext>
            </a:extLst>
          </p:cNvPr>
          <p:cNvSpPr txBox="1">
            <a:spLocks/>
          </p:cNvSpPr>
          <p:nvPr/>
        </p:nvSpPr>
        <p:spPr>
          <a:xfrm>
            <a:off x="7083323" y="2298179"/>
            <a:ext cx="2000589" cy="43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114300" indent="0" algn="ctr">
              <a:lnSpc>
                <a:spcPct val="100000"/>
              </a:lnSpc>
              <a:buNone/>
            </a:pPr>
            <a:r>
              <a:rPr lang="en-CA" sz="1400" dirty="0">
                <a:solidFill>
                  <a:srgbClr val="0070C0"/>
                </a:solidFill>
              </a:rPr>
              <a:t>“I told my </a:t>
            </a:r>
            <a:r>
              <a:rPr lang="en-CA" sz="1400" i="1" dirty="0">
                <a:solidFill>
                  <a:srgbClr val="0070C0"/>
                </a:solidFill>
              </a:rPr>
              <a:t>shrink</a:t>
            </a:r>
            <a:r>
              <a:rPr lang="en-CA" sz="1400" dirty="0">
                <a:solidFill>
                  <a:srgbClr val="0070C0"/>
                </a:solidFill>
              </a:rPr>
              <a:t>, and she said I should act on it.”</a:t>
            </a:r>
          </a:p>
        </p:txBody>
      </p:sp>
      <p:sp>
        <p:nvSpPr>
          <p:cNvPr id="6" name="Google Shape;72;p15">
            <a:extLst>
              <a:ext uri="{FF2B5EF4-FFF2-40B4-BE49-F238E27FC236}">
                <a16:creationId xmlns:a16="http://schemas.microsoft.com/office/drawing/2014/main" id="{E7596A83-EA88-96CF-9F0B-4A139474E5F2}"/>
              </a:ext>
            </a:extLst>
          </p:cNvPr>
          <p:cNvSpPr txBox="1">
            <a:spLocks/>
          </p:cNvSpPr>
          <p:nvPr/>
        </p:nvSpPr>
        <p:spPr>
          <a:xfrm>
            <a:off x="7272632" y="3167855"/>
            <a:ext cx="1621969" cy="43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114300" indent="0" algn="ctr">
              <a:lnSpc>
                <a:spcPct val="100000"/>
              </a:lnSpc>
              <a:buNone/>
            </a:pPr>
            <a:r>
              <a:rPr lang="en-CA" sz="1400" dirty="0">
                <a:solidFill>
                  <a:srgbClr val="0070C0"/>
                </a:solidFill>
              </a:rPr>
              <a:t>psychiatrist</a:t>
            </a:r>
          </a:p>
        </p:txBody>
      </p:sp>
      <p:sp>
        <p:nvSpPr>
          <p:cNvPr id="7" name="Google Shape;72;p15">
            <a:extLst>
              <a:ext uri="{FF2B5EF4-FFF2-40B4-BE49-F238E27FC236}">
                <a16:creationId xmlns:a16="http://schemas.microsoft.com/office/drawing/2014/main" id="{2AC42196-244D-934B-8C16-9D83400FE7CA}"/>
              </a:ext>
            </a:extLst>
          </p:cNvPr>
          <p:cNvSpPr txBox="1">
            <a:spLocks/>
          </p:cNvSpPr>
          <p:nvPr/>
        </p:nvSpPr>
        <p:spPr>
          <a:xfrm>
            <a:off x="6899546" y="1655947"/>
            <a:ext cx="2368142" cy="43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114300" indent="0" algn="ctr">
              <a:lnSpc>
                <a:spcPct val="100000"/>
              </a:lnSpc>
              <a:buNone/>
            </a:pPr>
            <a:r>
              <a:rPr lang="en-CA" sz="1400" dirty="0">
                <a:solidFill>
                  <a:srgbClr val="0070C0"/>
                </a:solidFill>
              </a:rPr>
              <a:t>A psychiatrist or a psychotherapist.</a:t>
            </a:r>
            <a:endParaRPr lang="en-CA" sz="1400" dirty="0"/>
          </a:p>
        </p:txBody>
      </p:sp>
      <p:sp>
        <p:nvSpPr>
          <p:cNvPr id="8" name="Google Shape;72;p15">
            <a:extLst>
              <a:ext uri="{FF2B5EF4-FFF2-40B4-BE49-F238E27FC236}">
                <a16:creationId xmlns:a16="http://schemas.microsoft.com/office/drawing/2014/main" id="{1B9C267F-A8C0-412B-AB98-1307A17785C2}"/>
              </a:ext>
            </a:extLst>
          </p:cNvPr>
          <p:cNvSpPr txBox="1">
            <a:spLocks/>
          </p:cNvSpPr>
          <p:nvPr/>
        </p:nvSpPr>
        <p:spPr>
          <a:xfrm>
            <a:off x="7272632" y="3598297"/>
            <a:ext cx="1621969" cy="43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114300" indent="0" algn="ctr">
              <a:lnSpc>
                <a:spcPct val="100000"/>
              </a:lnSpc>
              <a:buNone/>
            </a:pPr>
            <a:r>
              <a:rPr lang="en-CA" sz="1400" dirty="0">
                <a:solidFill>
                  <a:srgbClr val="0070C0"/>
                </a:solidFill>
              </a:rPr>
              <a:t>US, 2007 </a:t>
            </a:r>
          </a:p>
        </p:txBody>
      </p:sp>
      <p:sp>
        <p:nvSpPr>
          <p:cNvPr id="11" name="Google Shape;72;p15">
            <a:extLst>
              <a:ext uri="{FF2B5EF4-FFF2-40B4-BE49-F238E27FC236}">
                <a16:creationId xmlns:a16="http://schemas.microsoft.com/office/drawing/2014/main" id="{E40672ED-CF6E-7535-F611-C7E8C8945A1F}"/>
              </a:ext>
            </a:extLst>
          </p:cNvPr>
          <p:cNvSpPr txBox="1">
            <a:spLocks/>
          </p:cNvSpPr>
          <p:nvPr/>
        </p:nvSpPr>
        <p:spPr>
          <a:xfrm>
            <a:off x="7252447" y="4012467"/>
            <a:ext cx="1621969" cy="43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114300" indent="0" algn="ctr">
              <a:lnSpc>
                <a:spcPct val="100000"/>
              </a:lnSpc>
              <a:buNone/>
            </a:pPr>
            <a:r>
              <a:rPr lang="en-CA" sz="1400" dirty="0" err="1">
                <a:solidFill>
                  <a:srgbClr val="0070C0"/>
                </a:solidFill>
              </a:rPr>
              <a:t>OpenSubtitles</a:t>
            </a:r>
            <a:r>
              <a:rPr lang="en-CA" sz="1400" dirty="0">
                <a:solidFill>
                  <a:srgbClr val="0070C0"/>
                </a:solidFill>
              </a:rPr>
              <a:t> – 3151540:313</a:t>
            </a:r>
          </a:p>
        </p:txBody>
      </p:sp>
    </p:spTree>
    <p:extLst>
      <p:ext uri="{BB962C8B-B14F-4D97-AF65-F5344CB8AC3E}">
        <p14:creationId xmlns:p14="http://schemas.microsoft.com/office/powerpoint/2010/main" val="2479870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311700" y="1132271"/>
            <a:ext cx="7949431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dirty="0"/>
              <a:t>Our </a:t>
            </a:r>
            <a:r>
              <a:rPr lang="en-CA" dirty="0" err="1"/>
              <a:t>OpenSub</a:t>
            </a:r>
            <a:r>
              <a:rPr lang="en-CA" dirty="0"/>
              <a:t>-Slang dataset contains features that are desirable for evaluation. 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sz="1800" dirty="0"/>
          </a:p>
          <a:p>
            <a:pPr marL="596900" lvl="1" indent="0">
              <a:lnSpc>
                <a:spcPct val="100000"/>
              </a:lnSpc>
              <a:buNone/>
            </a:pPr>
            <a:endParaRPr lang="en-CA" dirty="0"/>
          </a:p>
          <a:p>
            <a:pPr marL="114300" indent="0">
              <a:lnSpc>
                <a:spcPct val="100000"/>
              </a:lnSpc>
              <a:buNone/>
            </a:pPr>
            <a:endParaRPr lang="en-CA" dirty="0"/>
          </a:p>
          <a:p>
            <a:pPr marL="114300" indent="0">
              <a:lnSpc>
                <a:spcPct val="100000"/>
              </a:lnSpc>
              <a:buNone/>
            </a:pPr>
            <a:endParaRPr lang="en-CA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D814E1-2263-1C43-BF96-024209A3C3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Dataset -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1597B4-EC94-D352-E4BE-242A18782329}"/>
              </a:ext>
            </a:extLst>
          </p:cNvPr>
          <p:cNvSpPr txBox="1"/>
          <p:nvPr/>
        </p:nvSpPr>
        <p:spPr>
          <a:xfrm>
            <a:off x="9601200" y="335280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 descr="A diagram of a list of correct and incorrect sentences&#10;&#10;Description automatically generated with medium confidence">
            <a:extLst>
              <a:ext uri="{FF2B5EF4-FFF2-40B4-BE49-F238E27FC236}">
                <a16:creationId xmlns:a16="http://schemas.microsoft.com/office/drawing/2014/main" id="{175BF18B-C0FC-AA59-C4C8-AA3E1AD39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658" y="1743960"/>
            <a:ext cx="6922825" cy="271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733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311700" y="1132271"/>
            <a:ext cx="7949431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dirty="0"/>
              <a:t>We randomly sample sentences from 100 movies for annotation: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 dirty="0"/>
              <a:t>50 movies from the US and 50 from the UK.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 dirty="0"/>
              <a:t>All sampled movies were produced after year 2000.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 dirty="0"/>
              <a:t>Three-step annotation procedure:</a:t>
            </a:r>
          </a:p>
          <a:p>
            <a:pPr marL="1397000" lvl="2" indent="-342900">
              <a:lnSpc>
                <a:spcPct val="100000"/>
              </a:lnSpc>
              <a:buFont typeface="+mj-lt"/>
              <a:buAutoNum type="arabicPeriod"/>
            </a:pPr>
            <a:r>
              <a:rPr lang="en-CA" sz="1800" dirty="0"/>
              <a:t>Three annotators identify whether a slang is in the sentence.</a:t>
            </a:r>
          </a:p>
          <a:p>
            <a:pPr marL="1397000" lvl="2" indent="-342900">
              <a:lnSpc>
                <a:spcPct val="100000"/>
              </a:lnSpc>
              <a:buFont typeface="+mj-lt"/>
              <a:buAutoNum type="arabicPeriod"/>
            </a:pPr>
            <a:r>
              <a:rPr lang="en-CA" sz="1800" dirty="0"/>
              <a:t>An additional annotator defines each annotated slang.</a:t>
            </a:r>
          </a:p>
          <a:p>
            <a:pPr marL="1397000" lvl="2" indent="-342900">
              <a:lnSpc>
                <a:spcPct val="100000"/>
              </a:lnSpc>
              <a:buFont typeface="+mj-lt"/>
              <a:buAutoNum type="arabicPeriod"/>
            </a:pPr>
            <a:r>
              <a:rPr lang="en-CA" sz="1800" dirty="0"/>
              <a:t>The annotator from step 2) writes a literal paraphrase.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 dirty="0"/>
              <a:t>More annotation details in the paper.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sz="1800" dirty="0"/>
          </a:p>
          <a:p>
            <a:pPr marL="596900" lvl="1" indent="0">
              <a:lnSpc>
                <a:spcPct val="100000"/>
              </a:lnSpc>
              <a:buNone/>
            </a:pPr>
            <a:endParaRPr lang="en-CA" dirty="0"/>
          </a:p>
          <a:p>
            <a:pPr marL="114300" indent="0">
              <a:lnSpc>
                <a:spcPct val="100000"/>
              </a:lnSpc>
              <a:buNone/>
            </a:pPr>
            <a:endParaRPr lang="en-CA" dirty="0"/>
          </a:p>
          <a:p>
            <a:pPr marL="114300" indent="0">
              <a:lnSpc>
                <a:spcPct val="100000"/>
              </a:lnSpc>
              <a:buNone/>
            </a:pPr>
            <a:endParaRPr lang="en-CA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D814E1-2263-1C43-BF96-024209A3C3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Dataset - Annotation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1597B4-EC94-D352-E4BE-242A18782329}"/>
              </a:ext>
            </a:extLst>
          </p:cNvPr>
          <p:cNvSpPr txBox="1"/>
          <p:nvPr/>
        </p:nvSpPr>
        <p:spPr>
          <a:xfrm>
            <a:off x="9601200" y="335280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155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311700" y="1132271"/>
            <a:ext cx="7949431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dirty="0"/>
              <a:t>We evaluate the LLMs on slang using two probing tasks: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dirty="0"/>
              <a:t>We also look at intrinsic tasks (e.g., LM probability on slang vs. literal terms) for model interpretation.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sz="1800" dirty="0"/>
          </a:p>
          <a:p>
            <a:pPr marL="596900" lvl="1" indent="0">
              <a:lnSpc>
                <a:spcPct val="100000"/>
              </a:lnSpc>
              <a:buNone/>
            </a:pPr>
            <a:endParaRPr lang="en-CA" dirty="0"/>
          </a:p>
          <a:p>
            <a:pPr marL="114300" indent="0">
              <a:lnSpc>
                <a:spcPct val="100000"/>
              </a:lnSpc>
              <a:buNone/>
            </a:pPr>
            <a:endParaRPr lang="en-CA" dirty="0"/>
          </a:p>
          <a:p>
            <a:pPr marL="114300" indent="0">
              <a:lnSpc>
                <a:spcPct val="100000"/>
              </a:lnSpc>
              <a:buNone/>
            </a:pPr>
            <a:endParaRPr lang="en-CA" dirty="0"/>
          </a:p>
        </p:txBody>
      </p:sp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Evaluation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C315ED-E638-CBDF-699D-2CC7B2559B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44340" y="1277445"/>
            <a:ext cx="6089714" cy="25886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F72C84-2F6C-EC3D-0589-2F823E5AFA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44340" y="1277445"/>
            <a:ext cx="6089714" cy="258860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D814E1-2263-1C43-BF96-024209A3C3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1597B4-EC94-D352-E4BE-242A18782329}"/>
              </a:ext>
            </a:extLst>
          </p:cNvPr>
          <p:cNvSpPr txBox="1"/>
          <p:nvPr/>
        </p:nvSpPr>
        <p:spPr>
          <a:xfrm>
            <a:off x="9601200" y="335280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634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311700" y="1132271"/>
            <a:ext cx="8160758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dirty="0"/>
              <a:t>We perform the evaluations on two sets of models: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 dirty="0"/>
              <a:t>BERT-like models:</a:t>
            </a:r>
          </a:p>
          <a:p>
            <a:pPr lvl="2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 dirty="0"/>
              <a:t>BERT, </a:t>
            </a:r>
            <a:r>
              <a:rPr lang="en-CA" sz="1800" dirty="0" err="1"/>
              <a:t>RoBERTa</a:t>
            </a:r>
            <a:r>
              <a:rPr lang="en-CA" sz="1800" dirty="0"/>
              <a:t>, and XL-Net,</a:t>
            </a:r>
          </a:p>
          <a:p>
            <a:pPr lvl="2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 dirty="0"/>
              <a:t>All models are fine-tuned.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 dirty="0"/>
              <a:t>GPT-family models:</a:t>
            </a:r>
          </a:p>
          <a:p>
            <a:pPr lvl="2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 dirty="0"/>
              <a:t>GPT-3, GPT-3.5, and GPT-4</a:t>
            </a:r>
          </a:p>
          <a:p>
            <a:pPr lvl="2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 dirty="0"/>
              <a:t>We evaluate pre-trained GPT models with finetuning on GPT-3.5.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sz="1800" dirty="0"/>
          </a:p>
          <a:p>
            <a:pPr marL="596900" lvl="1" indent="0">
              <a:lnSpc>
                <a:spcPct val="100000"/>
              </a:lnSpc>
              <a:buNone/>
            </a:pPr>
            <a:endParaRPr lang="en-CA" dirty="0"/>
          </a:p>
          <a:p>
            <a:pPr marL="114300" indent="0">
              <a:lnSpc>
                <a:spcPct val="100000"/>
              </a:lnSpc>
              <a:buNone/>
            </a:pPr>
            <a:endParaRPr lang="en-CA" dirty="0"/>
          </a:p>
          <a:p>
            <a:pPr marL="114300" indent="0">
              <a:lnSpc>
                <a:spcPct val="100000"/>
              </a:lnSpc>
              <a:buNone/>
            </a:pPr>
            <a:endParaRPr lang="en-CA" dirty="0"/>
          </a:p>
        </p:txBody>
      </p:sp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Evaluation - Setup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D814E1-2263-1C43-BF96-024209A3C3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1597B4-EC94-D352-E4BE-242A18782329}"/>
              </a:ext>
            </a:extLst>
          </p:cNvPr>
          <p:cNvSpPr txBox="1"/>
          <p:nvPr/>
        </p:nvSpPr>
        <p:spPr>
          <a:xfrm>
            <a:off x="9601200" y="335280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62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311700" y="1132271"/>
            <a:ext cx="8709458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dirty="0"/>
              <a:t>We perform all evaluations on our </a:t>
            </a:r>
            <a:r>
              <a:rPr lang="en-CA" dirty="0" err="1"/>
              <a:t>OpenSub</a:t>
            </a:r>
            <a:r>
              <a:rPr lang="en-CA" dirty="0"/>
              <a:t>-Slang datasets and include prior slang dictionary datasets whenever applicable: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 dirty="0" err="1"/>
              <a:t>OpenSub</a:t>
            </a:r>
            <a:r>
              <a:rPr lang="en-CA" sz="1800" dirty="0"/>
              <a:t>-Slang.</a:t>
            </a:r>
          </a:p>
          <a:p>
            <a:pPr lvl="2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 dirty="0"/>
              <a:t>7,488 slang-containing sentences and 17,512 annotated negatives.</a:t>
            </a:r>
          </a:p>
          <a:p>
            <a:pPr lvl="2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 dirty="0"/>
              <a:t>We use the 2,256 slang-containing sentences with high annotator confidence, of which 836 have annotated definitions and paraphrases.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 dirty="0"/>
              <a:t>Green’s Dictionary of Slang (Green, 2010) from Sun et al. (2022).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 dirty="0"/>
              <a:t>Online Slang Dictionary from Sun et al. (2021).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 dirty="0"/>
              <a:t>Urban Dictionary dataset from Sun et al. (2021).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sz="1800" dirty="0"/>
          </a:p>
          <a:p>
            <a:pPr marL="596900" lvl="1" indent="0">
              <a:lnSpc>
                <a:spcPct val="100000"/>
              </a:lnSpc>
              <a:buNone/>
            </a:pPr>
            <a:endParaRPr lang="en-CA" dirty="0"/>
          </a:p>
          <a:p>
            <a:pPr marL="114300" indent="0">
              <a:lnSpc>
                <a:spcPct val="100000"/>
              </a:lnSpc>
              <a:buNone/>
            </a:pPr>
            <a:endParaRPr lang="en-CA" dirty="0"/>
          </a:p>
          <a:p>
            <a:pPr marL="114300" indent="0">
              <a:lnSpc>
                <a:spcPct val="100000"/>
              </a:lnSpc>
              <a:buNone/>
            </a:pPr>
            <a:endParaRPr lang="en-CA" dirty="0"/>
          </a:p>
        </p:txBody>
      </p:sp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Evaluation - Datasets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D814E1-2263-1C43-BF96-024209A3C3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1597B4-EC94-D352-E4BE-242A18782329}"/>
              </a:ext>
            </a:extLst>
          </p:cNvPr>
          <p:cNvSpPr txBox="1"/>
          <p:nvPr/>
        </p:nvSpPr>
        <p:spPr>
          <a:xfrm>
            <a:off x="9601200" y="335280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650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Slang detection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C315ED-E638-CBDF-699D-2CC7B2559B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27143" y="600183"/>
            <a:ext cx="6089714" cy="258860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D814E1-2263-1C43-BF96-024209A3C3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1597B4-EC94-D352-E4BE-242A18782329}"/>
              </a:ext>
            </a:extLst>
          </p:cNvPr>
          <p:cNvSpPr txBox="1"/>
          <p:nvPr/>
        </p:nvSpPr>
        <p:spPr>
          <a:xfrm>
            <a:off x="9601200" y="335280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7" descr="A graph of different colored bars&#10;&#10;Description automatically generated">
            <a:extLst>
              <a:ext uri="{FF2B5EF4-FFF2-40B4-BE49-F238E27FC236}">
                <a16:creationId xmlns:a16="http://schemas.microsoft.com/office/drawing/2014/main" id="{2121861D-4787-A5F0-D02F-08EF8FD393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9373" y="1716441"/>
            <a:ext cx="5365170" cy="291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489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D814E1-2263-1C43-BF96-024209A3C3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Slang source identification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C315ED-E638-CBDF-699D-2CC7B2559B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27144" y="-205394"/>
            <a:ext cx="6089712" cy="25886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1597B4-EC94-D352-E4BE-242A18782329}"/>
              </a:ext>
            </a:extLst>
          </p:cNvPr>
          <p:cNvSpPr txBox="1"/>
          <p:nvPr/>
        </p:nvSpPr>
        <p:spPr>
          <a:xfrm>
            <a:off x="9601200" y="335280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 descr="A graph of different colored bars&#10;&#10;Description automatically generated">
            <a:extLst>
              <a:ext uri="{FF2B5EF4-FFF2-40B4-BE49-F238E27FC236}">
                <a16:creationId xmlns:a16="http://schemas.microsoft.com/office/drawing/2014/main" id="{B12100F4-A507-AACB-A18B-0FDC22E2D4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9705" y="2236122"/>
            <a:ext cx="4892511" cy="2129451"/>
          </a:xfrm>
          <a:prstGeom prst="rect">
            <a:avLst/>
          </a:prstGeom>
        </p:spPr>
      </p:pic>
      <p:sp>
        <p:nvSpPr>
          <p:cNvPr id="7" name="Google Shape;72;p15">
            <a:extLst>
              <a:ext uri="{FF2B5EF4-FFF2-40B4-BE49-F238E27FC236}">
                <a16:creationId xmlns:a16="http://schemas.microsoft.com/office/drawing/2014/main" id="{925AF337-5F95-88BB-DC0C-670FCF0413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5713" y="1952377"/>
            <a:ext cx="3430742" cy="24131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905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400" b="1" dirty="0"/>
              <a:t>Original:</a:t>
            </a:r>
          </a:p>
          <a:p>
            <a:pPr marL="290513" lvl="1" indent="0">
              <a:lnSpc>
                <a:spcPct val="100000"/>
              </a:lnSpc>
              <a:buNone/>
            </a:pPr>
            <a:r>
              <a:rPr lang="en-CA" dirty="0"/>
              <a:t>Good choice, that jacket is blazing.</a:t>
            </a:r>
            <a:endParaRPr lang="en-CA" sz="600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sz="1400" dirty="0"/>
          </a:p>
          <a:p>
            <a:pPr marL="2905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400" b="1" dirty="0"/>
              <a:t>Masked slang:</a:t>
            </a:r>
          </a:p>
          <a:p>
            <a:pPr marL="2905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sz="1400" dirty="0"/>
          </a:p>
          <a:p>
            <a:pPr marL="114300" indent="176213">
              <a:lnSpc>
                <a:spcPct val="100000"/>
              </a:lnSpc>
              <a:buNone/>
            </a:pPr>
            <a:r>
              <a:rPr lang="en-CA" sz="1400" dirty="0"/>
              <a:t>Good choice, that jacket is [MASK].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sz="1400" dirty="0"/>
          </a:p>
          <a:p>
            <a:pPr marL="2905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400" b="1" dirty="0"/>
              <a:t>Masked content:</a:t>
            </a:r>
          </a:p>
          <a:p>
            <a:pPr marL="2905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sz="1400" dirty="0"/>
          </a:p>
          <a:p>
            <a:pPr marL="114300" indent="176213">
              <a:lnSpc>
                <a:spcPct val="100000"/>
              </a:lnSpc>
              <a:buNone/>
            </a:pPr>
            <a:r>
              <a:rPr lang="en-CA" sz="1400" dirty="0"/>
              <a:t>Good choice, that [MASK] is blazing.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 marL="596900" lvl="1" indent="0">
              <a:lnSpc>
                <a:spcPct val="100000"/>
              </a:lnSpc>
              <a:buNone/>
            </a:pPr>
            <a:endParaRPr lang="en-CA" dirty="0"/>
          </a:p>
          <a:p>
            <a:pPr marL="114300" indent="0">
              <a:lnSpc>
                <a:spcPct val="100000"/>
              </a:lnSpc>
              <a:buNone/>
            </a:pPr>
            <a:endParaRPr lang="en-CA" sz="1400" dirty="0"/>
          </a:p>
          <a:p>
            <a:pPr marL="114300" indent="0">
              <a:lnSpc>
                <a:spcPct val="100000"/>
              </a:lnSpc>
              <a:buNone/>
            </a:pPr>
            <a:endParaRPr lang="en-CA" sz="1400" dirty="0"/>
          </a:p>
        </p:txBody>
      </p:sp>
    </p:spTree>
    <p:extLst>
      <p:ext uri="{BB962C8B-B14F-4D97-AF65-F5344CB8AC3E}">
        <p14:creationId xmlns:p14="http://schemas.microsoft.com/office/powerpoint/2010/main" val="431928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Model interpretation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D814E1-2263-1C43-BF96-024209A3C3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1597B4-EC94-D352-E4BE-242A18782329}"/>
              </a:ext>
            </a:extLst>
          </p:cNvPr>
          <p:cNvSpPr txBox="1"/>
          <p:nvPr/>
        </p:nvSpPr>
        <p:spPr>
          <a:xfrm>
            <a:off x="9601200" y="335280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3982807-655E-46B7-655D-2423686E4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6853" y="1079356"/>
            <a:ext cx="3830294" cy="640288"/>
          </a:xfrm>
          <a:prstGeom prst="rect">
            <a:avLst/>
          </a:prstGeom>
        </p:spPr>
      </p:pic>
      <p:pic>
        <p:nvPicPr>
          <p:cNvPr id="9" name="Picture 8" descr="A graph of a number of different levels&#10;&#10;Description automatically generated with medium confidence">
            <a:extLst>
              <a:ext uri="{FF2B5EF4-FFF2-40B4-BE49-F238E27FC236}">
                <a16:creationId xmlns:a16="http://schemas.microsoft.com/office/drawing/2014/main" id="{6FD8C0C0-73A6-719A-9BB4-E8B66AD38F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821705"/>
            <a:ext cx="3714591" cy="2671386"/>
          </a:xfrm>
          <a:prstGeom prst="rect">
            <a:avLst/>
          </a:prstGeom>
        </p:spPr>
      </p:pic>
      <p:sp>
        <p:nvSpPr>
          <p:cNvPr id="11" name="Google Shape;72;p15">
            <a:extLst>
              <a:ext uri="{FF2B5EF4-FFF2-40B4-BE49-F238E27FC236}">
                <a16:creationId xmlns:a16="http://schemas.microsoft.com/office/drawing/2014/main" id="{A452B150-7741-F640-C4E7-54D4A79482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5713" y="1952377"/>
            <a:ext cx="3430742" cy="24131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lnSpc>
                <a:spcPct val="100000"/>
              </a:lnSpc>
              <a:buNone/>
            </a:pPr>
            <a:r>
              <a:rPr lang="en-CA" sz="1400" b="1" dirty="0"/>
              <a:t>1. LM probability comparison:</a:t>
            </a:r>
          </a:p>
          <a:p>
            <a:pPr marL="114300" indent="0">
              <a:lnSpc>
                <a:spcPct val="100000"/>
              </a:lnSpc>
              <a:buNone/>
            </a:pPr>
            <a:endParaRPr lang="en-CA" sz="1400" b="1" dirty="0"/>
          </a:p>
          <a:p>
            <a:pPr marL="114300" indent="0">
              <a:lnSpc>
                <a:spcPct val="100000"/>
              </a:lnSpc>
              <a:buNone/>
            </a:pPr>
            <a:r>
              <a:rPr lang="en-CA" sz="1400" dirty="0"/>
              <a:t>S</a:t>
            </a:r>
            <a:r>
              <a:rPr lang="en-CA" sz="1400" baseline="-25000" dirty="0"/>
              <a:t>i</a:t>
            </a:r>
            <a:r>
              <a:rPr lang="en-CA" sz="1400" dirty="0"/>
              <a:t> = P ( “blazing” | context )</a:t>
            </a:r>
          </a:p>
          <a:p>
            <a:pPr marL="114300" indent="0">
              <a:lnSpc>
                <a:spcPct val="100000"/>
              </a:lnSpc>
              <a:buNone/>
            </a:pPr>
            <a:r>
              <a:rPr lang="en-CA" sz="1400" dirty="0"/>
              <a:t>L</a:t>
            </a:r>
            <a:r>
              <a:rPr lang="en-CA" sz="1400" baseline="-25000" dirty="0"/>
              <a:t>i</a:t>
            </a:r>
            <a:r>
              <a:rPr lang="en-CA" sz="1400" dirty="0"/>
              <a:t> = P ( “excellent” | context )</a:t>
            </a:r>
          </a:p>
          <a:p>
            <a:pPr marL="2905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sz="140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 marL="596900" lvl="1" indent="0">
              <a:lnSpc>
                <a:spcPct val="100000"/>
              </a:lnSpc>
              <a:buNone/>
            </a:pPr>
            <a:endParaRPr lang="en-CA" dirty="0"/>
          </a:p>
          <a:p>
            <a:pPr marL="114300" indent="0">
              <a:lnSpc>
                <a:spcPct val="100000"/>
              </a:lnSpc>
              <a:buNone/>
            </a:pPr>
            <a:endParaRPr lang="en-CA" sz="1400" dirty="0"/>
          </a:p>
          <a:p>
            <a:pPr marL="114300" indent="0">
              <a:lnSpc>
                <a:spcPct val="100000"/>
              </a:lnSpc>
              <a:buNone/>
            </a:pPr>
            <a:endParaRPr lang="en-CA" sz="1400" dirty="0"/>
          </a:p>
        </p:txBody>
      </p:sp>
      <p:pic>
        <p:nvPicPr>
          <p:cNvPr id="13" name="Picture 12" descr="A math equation with black text&#10;&#10;Description automatically generated with medium confidence">
            <a:extLst>
              <a:ext uri="{FF2B5EF4-FFF2-40B4-BE49-F238E27FC236}">
                <a16:creationId xmlns:a16="http://schemas.microsoft.com/office/drawing/2014/main" id="{7E1A4AE4-FEE9-92C7-AD01-438E519FF6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633" y="3335357"/>
            <a:ext cx="1629752" cy="650439"/>
          </a:xfrm>
          <a:prstGeom prst="rect">
            <a:avLst/>
          </a:prstGeom>
        </p:spPr>
      </p:pic>
      <p:pic>
        <p:nvPicPr>
          <p:cNvPr id="15" name="Picture 14" descr="A math equation with black text&#10;&#10;Description automatically generated">
            <a:extLst>
              <a:ext uri="{FF2B5EF4-FFF2-40B4-BE49-F238E27FC236}">
                <a16:creationId xmlns:a16="http://schemas.microsoft.com/office/drawing/2014/main" id="{B246E61E-7D45-6F69-EC9A-BFDEDD959B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2226" y="3335357"/>
            <a:ext cx="1997233" cy="65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818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Model interpretation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D814E1-2263-1C43-BF96-024209A3C3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1597B4-EC94-D352-E4BE-242A18782329}"/>
              </a:ext>
            </a:extLst>
          </p:cNvPr>
          <p:cNvSpPr txBox="1"/>
          <p:nvPr/>
        </p:nvSpPr>
        <p:spPr>
          <a:xfrm>
            <a:off x="9601200" y="335280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3982807-655E-46B7-655D-2423686E4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6853" y="1079356"/>
            <a:ext cx="3830294" cy="6402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D8C0C0-73A6-719A-9BB4-E8B66AD38F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45258" y="1821705"/>
            <a:ext cx="3568075" cy="2671386"/>
          </a:xfrm>
          <a:prstGeom prst="rect">
            <a:avLst/>
          </a:prstGeom>
        </p:spPr>
      </p:pic>
      <p:sp>
        <p:nvSpPr>
          <p:cNvPr id="11" name="Google Shape;72;p15">
            <a:extLst>
              <a:ext uri="{FF2B5EF4-FFF2-40B4-BE49-F238E27FC236}">
                <a16:creationId xmlns:a16="http://schemas.microsoft.com/office/drawing/2014/main" id="{A452B150-7741-F640-C4E7-54D4A79482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5713" y="1952377"/>
            <a:ext cx="3430742" cy="24131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lnSpc>
                <a:spcPct val="100000"/>
              </a:lnSpc>
              <a:buNone/>
            </a:pPr>
            <a:r>
              <a:rPr lang="en-CA" sz="1400" b="1" dirty="0"/>
              <a:t>1. LM probability comparison:</a:t>
            </a:r>
          </a:p>
          <a:p>
            <a:pPr marL="114300" indent="0">
              <a:lnSpc>
                <a:spcPct val="100000"/>
              </a:lnSpc>
              <a:buNone/>
            </a:pPr>
            <a:endParaRPr lang="en-CA" sz="1400" b="1" dirty="0"/>
          </a:p>
          <a:p>
            <a:pPr marL="114300" indent="0">
              <a:lnSpc>
                <a:spcPct val="100000"/>
              </a:lnSpc>
              <a:buNone/>
            </a:pPr>
            <a:r>
              <a:rPr lang="en-CA" sz="1400" dirty="0"/>
              <a:t>S</a:t>
            </a:r>
            <a:r>
              <a:rPr lang="en-CA" sz="1400" baseline="-25000" dirty="0"/>
              <a:t>i</a:t>
            </a:r>
            <a:r>
              <a:rPr lang="en-CA" sz="1400" dirty="0"/>
              <a:t> = P ( “blazing” | context )</a:t>
            </a:r>
          </a:p>
          <a:p>
            <a:pPr marL="114300" indent="0">
              <a:lnSpc>
                <a:spcPct val="100000"/>
              </a:lnSpc>
              <a:buNone/>
            </a:pPr>
            <a:r>
              <a:rPr lang="en-CA" sz="1400" dirty="0"/>
              <a:t>L</a:t>
            </a:r>
            <a:r>
              <a:rPr lang="en-CA" sz="1400" baseline="-25000" dirty="0"/>
              <a:t>i</a:t>
            </a:r>
            <a:r>
              <a:rPr lang="en-CA" sz="1400" dirty="0"/>
              <a:t> = P ( “excellent” | context )</a:t>
            </a:r>
          </a:p>
          <a:p>
            <a:pPr marL="2905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sz="140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 marL="596900" lvl="1" indent="0">
              <a:lnSpc>
                <a:spcPct val="100000"/>
              </a:lnSpc>
              <a:buNone/>
            </a:pPr>
            <a:endParaRPr lang="en-CA" dirty="0"/>
          </a:p>
          <a:p>
            <a:pPr marL="114300" indent="0">
              <a:lnSpc>
                <a:spcPct val="100000"/>
              </a:lnSpc>
              <a:buNone/>
            </a:pPr>
            <a:endParaRPr lang="en-CA" sz="1400" dirty="0"/>
          </a:p>
          <a:p>
            <a:pPr marL="114300" indent="0">
              <a:lnSpc>
                <a:spcPct val="100000"/>
              </a:lnSpc>
              <a:buNone/>
            </a:pPr>
            <a:endParaRPr lang="en-CA" sz="1400" dirty="0"/>
          </a:p>
        </p:txBody>
      </p:sp>
      <p:pic>
        <p:nvPicPr>
          <p:cNvPr id="13" name="Picture 12" descr="A math equation with black text&#10;&#10;Description automatically generated with medium confidence">
            <a:extLst>
              <a:ext uri="{FF2B5EF4-FFF2-40B4-BE49-F238E27FC236}">
                <a16:creationId xmlns:a16="http://schemas.microsoft.com/office/drawing/2014/main" id="{7E1A4AE4-FEE9-92C7-AD01-438E519FF6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633" y="3335357"/>
            <a:ext cx="1629752" cy="650439"/>
          </a:xfrm>
          <a:prstGeom prst="rect">
            <a:avLst/>
          </a:prstGeom>
        </p:spPr>
      </p:pic>
      <p:pic>
        <p:nvPicPr>
          <p:cNvPr id="15" name="Picture 14" descr="A math equation with black text&#10;&#10;Description automatically generated">
            <a:extLst>
              <a:ext uri="{FF2B5EF4-FFF2-40B4-BE49-F238E27FC236}">
                <a16:creationId xmlns:a16="http://schemas.microsoft.com/office/drawing/2014/main" id="{B246E61E-7D45-6F69-EC9A-BFDEDD959B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2226" y="3335357"/>
            <a:ext cx="1997233" cy="65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5343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Model interpretation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D814E1-2263-1C43-BF96-024209A3C3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1597B4-EC94-D352-E4BE-242A18782329}"/>
              </a:ext>
            </a:extLst>
          </p:cNvPr>
          <p:cNvSpPr txBox="1"/>
          <p:nvPr/>
        </p:nvSpPr>
        <p:spPr>
          <a:xfrm>
            <a:off x="9601200" y="335280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3982807-655E-46B7-655D-2423686E4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6853" y="1079356"/>
            <a:ext cx="3830294" cy="640288"/>
          </a:xfrm>
          <a:prstGeom prst="rect">
            <a:avLst/>
          </a:prstGeom>
        </p:spPr>
      </p:pic>
      <p:sp>
        <p:nvSpPr>
          <p:cNvPr id="11" name="Google Shape;72;p15">
            <a:extLst>
              <a:ext uri="{FF2B5EF4-FFF2-40B4-BE49-F238E27FC236}">
                <a16:creationId xmlns:a16="http://schemas.microsoft.com/office/drawing/2014/main" id="{A452B150-7741-F640-C4E7-54D4A79482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5713" y="1952377"/>
            <a:ext cx="3430742" cy="24131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lnSpc>
                <a:spcPct val="100000"/>
              </a:lnSpc>
              <a:buNone/>
            </a:pPr>
            <a:r>
              <a:rPr lang="en-CA" sz="1400" b="1" dirty="0"/>
              <a:t>2. Comparing the semantic representations:</a:t>
            </a:r>
          </a:p>
          <a:p>
            <a:pPr marL="114300" indent="0">
              <a:lnSpc>
                <a:spcPct val="100000"/>
              </a:lnSpc>
              <a:buNone/>
            </a:pPr>
            <a:endParaRPr lang="en-CA" sz="1400" b="1" dirty="0"/>
          </a:p>
          <a:p>
            <a:pPr marL="2905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sz="140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 marL="596900" lvl="1" indent="0">
              <a:lnSpc>
                <a:spcPct val="100000"/>
              </a:lnSpc>
              <a:buNone/>
            </a:pPr>
            <a:endParaRPr lang="en-CA" dirty="0"/>
          </a:p>
          <a:p>
            <a:pPr marL="114300" indent="0">
              <a:lnSpc>
                <a:spcPct val="100000"/>
              </a:lnSpc>
              <a:buNone/>
            </a:pPr>
            <a:endParaRPr lang="en-CA" sz="1400" dirty="0"/>
          </a:p>
          <a:p>
            <a:pPr marL="114300" indent="0">
              <a:lnSpc>
                <a:spcPct val="100000"/>
              </a:lnSpc>
              <a:buNone/>
            </a:pPr>
            <a:endParaRPr lang="en-CA" sz="1400" dirty="0"/>
          </a:p>
        </p:txBody>
      </p:sp>
      <p:pic>
        <p:nvPicPr>
          <p:cNvPr id="7" name="Picture 6" descr="A black background with blue and orange text&#10;&#10;Description automatically generated">
            <a:extLst>
              <a:ext uri="{FF2B5EF4-FFF2-40B4-BE49-F238E27FC236}">
                <a16:creationId xmlns:a16="http://schemas.microsoft.com/office/drawing/2014/main" id="{1D9F65B8-687F-D634-60A9-BC00D7D9BB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310" y="2664270"/>
            <a:ext cx="3103267" cy="1649484"/>
          </a:xfrm>
          <a:prstGeom prst="rect">
            <a:avLst/>
          </a:prstGeom>
        </p:spPr>
      </p:pic>
      <p:pic>
        <p:nvPicPr>
          <p:cNvPr id="10" name="Picture 9" descr="A table with numbers and symbols&#10;&#10;Description automatically generated">
            <a:extLst>
              <a:ext uri="{FF2B5EF4-FFF2-40B4-BE49-F238E27FC236}">
                <a16:creationId xmlns:a16="http://schemas.microsoft.com/office/drawing/2014/main" id="{A2FF86EB-23A4-0AC6-DACC-A10E63F040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3267" y="2554083"/>
            <a:ext cx="4923541" cy="120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817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311700" y="1162104"/>
            <a:ext cx="8520600" cy="36807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We contributed a comprehensive benchmark dataset for slang and thoroughly investigated slang knowledge in large language models.</a:t>
            </a:r>
            <a:endParaRPr lang="en-CA" sz="1800" baseline="-25000" dirty="0"/>
          </a:p>
          <a:p>
            <a:pPr lvl="0">
              <a:lnSpc>
                <a:spcPct val="50000"/>
              </a:lnSpc>
              <a:spcBef>
                <a:spcPts val="1600"/>
              </a:spcBef>
              <a:buFont typeface="Arial" panose="020B0604020202020204" pitchFamily="34" charset="0"/>
              <a:buChar char="•"/>
            </a:pPr>
            <a:endParaRPr lang="en-CA" sz="1000" b="1" dirty="0"/>
          </a:p>
          <a:p>
            <a:pPr lv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dirty="0"/>
              <a:t>GPT-based models are indeed more knowledgeable about informal language off-the-shelf, though smaller models can narrow the performance gap by finetuning.</a:t>
            </a:r>
            <a:endParaRPr lang="en-CA" baseline="-25000" dirty="0"/>
          </a:p>
          <a:p>
            <a:pPr marL="114300" lvl="0" indent="0">
              <a:lnSpc>
                <a:spcPct val="100000"/>
              </a:lnSpc>
              <a:buNone/>
            </a:pPr>
            <a:endParaRPr lang="en-CA" dirty="0"/>
          </a:p>
          <a:p>
            <a:pPr lv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dirty="0"/>
              <a:t>Future work could build on the current findings and investigate the source of such knowledge.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•"/>
            </a:pPr>
            <a:endParaRPr lang="en-CA" sz="1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87B3FA-2962-9E43-82C3-050457628E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40271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you!</a:t>
            </a:r>
            <a:endParaRPr dirty="0"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311700" y="1162104"/>
            <a:ext cx="8520600" cy="36807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dirty="0"/>
              <a:t>Code and data: </a:t>
            </a:r>
            <a:r>
              <a:rPr lang="en-CA" dirty="0">
                <a:hlinkClick r:id="rId3"/>
              </a:rPr>
              <a:t>https://github.com/amazon-science/slang-llm-benchmark</a:t>
            </a:r>
            <a:endParaRPr lang="en-CA" dirty="0"/>
          </a:p>
          <a:p>
            <a:pPr marL="114300" lvl="0" indent="0">
              <a:lnSpc>
                <a:spcPct val="50000"/>
              </a:lnSpc>
              <a:spcBef>
                <a:spcPts val="1600"/>
              </a:spcBef>
              <a:buNone/>
            </a:pPr>
            <a:endParaRPr lang="en-CA" sz="1000" b="1" dirty="0"/>
          </a:p>
          <a:p>
            <a:pPr lv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dirty="0"/>
              <a:t>Link to paper: </a:t>
            </a:r>
            <a:r>
              <a:rPr lang="en-CA" dirty="0">
                <a:hlinkClick r:id="rId4"/>
              </a:rPr>
              <a:t>https://arxiv.org/abs/2404.02323</a:t>
            </a:r>
            <a:endParaRPr lang="en-CA" dirty="0"/>
          </a:p>
          <a:p>
            <a:pPr lvl="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CA" sz="1800" dirty="0"/>
          </a:p>
          <a:p>
            <a:pPr lv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dirty="0"/>
              <a:t>Contact:</a:t>
            </a:r>
            <a:endParaRPr lang="en-CA" sz="1800" dirty="0"/>
          </a:p>
          <a:p>
            <a:pPr lvl="1">
              <a:lnSpc>
                <a:spcPct val="100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•"/>
            </a:pPr>
            <a:endParaRPr lang="en-CA" sz="1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87B3FA-2962-9E43-82C3-050457628E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2946C7-6201-D548-B96A-667DA5ACC6A0}"/>
              </a:ext>
            </a:extLst>
          </p:cNvPr>
          <p:cNvSpPr txBox="1"/>
          <p:nvPr/>
        </p:nvSpPr>
        <p:spPr>
          <a:xfrm>
            <a:off x="3575515" y="2462341"/>
            <a:ext cx="517129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Zhewei Sun</a:t>
            </a:r>
          </a:p>
          <a:p>
            <a:pPr algn="ctr"/>
            <a:endParaRPr lang="en-US" sz="1800" dirty="0"/>
          </a:p>
          <a:p>
            <a:pPr algn="ctr"/>
            <a:endParaRPr lang="en-US" sz="1800" dirty="0"/>
          </a:p>
          <a:p>
            <a:pPr algn="ctr"/>
            <a:endParaRPr lang="en-US" sz="1800" dirty="0"/>
          </a:p>
          <a:p>
            <a:pPr algn="ctr"/>
            <a:endParaRPr lang="en-US" sz="1800" dirty="0"/>
          </a:p>
          <a:p>
            <a:pPr algn="ctr"/>
            <a:endParaRPr lang="en-US" sz="1800" dirty="0"/>
          </a:p>
          <a:p>
            <a:pPr algn="ctr"/>
            <a:r>
              <a:rPr lang="en-US" sz="1800" i="1" dirty="0" err="1"/>
              <a:t>zheweisun</a:t>
            </a:r>
            <a:r>
              <a:rPr lang="en-US" sz="1800" i="1" dirty="0"/>
              <a:t> [at] </a:t>
            </a:r>
            <a:r>
              <a:rPr lang="en-US" sz="1800" i="1" dirty="0" err="1"/>
              <a:t>cs.toronto.edu</a:t>
            </a:r>
            <a:endParaRPr lang="en-US" sz="1800" i="1" dirty="0"/>
          </a:p>
          <a:p>
            <a:pPr algn="ctr"/>
            <a:r>
              <a:rPr lang="en-US" sz="1800" dirty="0">
                <a:hlinkClick r:id="rId5"/>
              </a:rPr>
              <a:t>https://zhewei-sun.github.io</a:t>
            </a:r>
            <a:endParaRPr lang="en-US" sz="1800" dirty="0"/>
          </a:p>
          <a:p>
            <a:pPr algn="ctr"/>
            <a:endParaRPr lang="en-US" sz="1800" dirty="0"/>
          </a:p>
          <a:p>
            <a:pPr algn="ctr"/>
            <a:endParaRPr lang="en-US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D26370-AE7D-8C84-5CD0-BA8345C10BBB}"/>
              </a:ext>
            </a:extLst>
          </p:cNvPr>
          <p:cNvSpPr txBox="1"/>
          <p:nvPr/>
        </p:nvSpPr>
        <p:spPr>
          <a:xfrm>
            <a:off x="4740740" y="2961724"/>
            <a:ext cx="284084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Department of Computer Science</a:t>
            </a:r>
          </a:p>
          <a:p>
            <a:pPr algn="ctr"/>
            <a:r>
              <a:rPr lang="en-US" sz="1400" dirty="0"/>
              <a:t>University of Toronto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330256-20C7-7273-20B1-9F51DAFFDC5F}"/>
              </a:ext>
            </a:extLst>
          </p:cNvPr>
          <p:cNvSpPr txBox="1"/>
          <p:nvPr/>
        </p:nvSpPr>
        <p:spPr>
          <a:xfrm>
            <a:off x="4186930" y="3545760"/>
            <a:ext cx="40334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Toyota Technological Institute at Chicago (TTIC)</a:t>
            </a:r>
          </a:p>
          <a:p>
            <a:pPr algn="ctr"/>
            <a:r>
              <a:rPr lang="en-US" dirty="0"/>
              <a:t>(Starting Fall 2024)</a:t>
            </a:r>
          </a:p>
        </p:txBody>
      </p:sp>
      <p:pic>
        <p:nvPicPr>
          <p:cNvPr id="7" name="Picture 6" descr="A person smiling for a picture&#10;&#10;Description automatically generated">
            <a:extLst>
              <a:ext uri="{FF2B5EF4-FFF2-40B4-BE49-F238E27FC236}">
                <a16:creationId xmlns:a16="http://schemas.microsoft.com/office/drawing/2014/main" id="{FFD8D93A-1589-7F60-3EBA-ED8F962245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1254" y="2538550"/>
            <a:ext cx="2120900" cy="212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01444"/>
      </p:ext>
    </p:extLst>
  </p:cSld>
  <p:clrMapOvr>
    <a:masterClrMapping/>
  </p:clrMapOvr>
</p:sld>
</file>

<file path=ppt/theme/theme1.xml><?xml version="1.0" encoding="utf-8"?>
<a:theme xmlns:a="http://schemas.openxmlformats.org/drawingml/2006/main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{A84E939C-5690-184A-AF01-457A5E65128F}tf16401378</Template>
  <TotalTime>92510</TotalTime>
  <Words>904</Words>
  <Application>Microsoft Macintosh PowerPoint</Application>
  <PresentationFormat>On-screen Show (16:9)</PresentationFormat>
  <Paragraphs>216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Proxima Nova</vt:lpstr>
      <vt:lpstr>Arial</vt:lpstr>
      <vt:lpstr>Spearmint</vt:lpstr>
      <vt:lpstr>Toward Informal Language Processing: Knowledge of Slang in Large Language Models</vt:lpstr>
      <vt:lpstr>Formality in chatbots</vt:lpstr>
      <vt:lpstr>Slang and large language models</vt:lpstr>
      <vt:lpstr>Motivation</vt:lpstr>
      <vt:lpstr>Resources</vt:lpstr>
      <vt:lpstr>Contributions</vt:lpstr>
      <vt:lpstr>Dataset - Desiderata</vt:lpstr>
      <vt:lpstr>Dataset - Features</vt:lpstr>
      <vt:lpstr>Dataset - Annotation</vt:lpstr>
      <vt:lpstr>Evaluation</vt:lpstr>
      <vt:lpstr>Evaluation - Setup </vt:lpstr>
      <vt:lpstr>Evaluation - Datasets </vt:lpstr>
      <vt:lpstr>Slang detection</vt:lpstr>
      <vt:lpstr>Slang source identification</vt:lpstr>
      <vt:lpstr>Model interpretation</vt:lpstr>
      <vt:lpstr>Model interpretation</vt:lpstr>
      <vt:lpstr>Model interpretation</vt:lpstr>
      <vt:lpstr>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Slang Choice via Contextualized Categorization</dc:title>
  <cp:lastModifiedBy>Zhewei Sun</cp:lastModifiedBy>
  <cp:revision>702</cp:revision>
  <cp:lastPrinted>2021-06-19T08:32:49Z</cp:lastPrinted>
  <dcterms:modified xsi:type="dcterms:W3CDTF">2024-05-19T01:26:48Z</dcterms:modified>
</cp:coreProperties>
</file>